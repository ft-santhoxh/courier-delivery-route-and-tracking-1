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55279" y="640080"/>
            <a:ext cx="3520440" cy="5440680"/>
          </a:xfrm>
          <a:prstGeom prst="roundRect">
            <a:avLst/>
          </a:prstGeom>
          <a:solidFill>
            <a:srgbClr val="1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549640" y="1417320"/>
            <a:ext cx="310896" cy="310896"/>
          </a:xfrm>
          <a:prstGeom prst="ellipse">
            <a:avLst/>
          </a:prstGeom>
          <a:solidFill>
            <a:srgbClr val="3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44200" y="2331720"/>
            <a:ext cx="310896" cy="310896"/>
          </a:xfrm>
          <a:prstGeom prst="ellipse">
            <a:avLst/>
          </a:prstGeom>
          <a:solidFill>
            <a:srgbClr val="3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281160" y="3794760"/>
            <a:ext cx="310896" cy="310896"/>
          </a:xfrm>
          <a:prstGeom prst="ellipse">
            <a:avLst/>
          </a:prstGeom>
          <a:solidFill>
            <a:srgbClr val="3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652760" y="5029200"/>
            <a:ext cx="310896" cy="310896"/>
          </a:xfrm>
          <a:prstGeom prst="ellipse">
            <a:avLst/>
          </a:prstGeom>
          <a:solidFill>
            <a:srgbClr val="3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8705088" y="1572768"/>
            <a:ext cx="2157984" cy="914400"/>
          </a:xfrm>
          <a:prstGeom prst="line">
            <a:avLst/>
          </a:prstGeom>
          <a:ln w="38100">
            <a:solidFill>
              <a:srgbClr val="5F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9436608" y="2487168"/>
            <a:ext cx="1426464" cy="1463040"/>
          </a:xfrm>
          <a:prstGeom prst="line">
            <a:avLst/>
          </a:prstGeom>
          <a:ln w="38100">
            <a:solidFill>
              <a:srgbClr val="5F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436608" y="3950208"/>
            <a:ext cx="1371600" cy="1234440"/>
          </a:xfrm>
          <a:prstGeom prst="line">
            <a:avLst/>
          </a:prstGeom>
          <a:ln w="38100">
            <a:solidFill>
              <a:srgbClr val="5F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731520"/>
            <a:ext cx="6309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3CDCBE"/>
                </a:solidFill>
                <a:latin typeface="Aptos"/>
              </a:defRPr>
            </a:pPr>
            <a:r>
              <a:t>JAVA MINI PROJECT  / 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508760"/>
            <a:ext cx="6858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F5F8FC"/>
                </a:solidFill>
                <a:latin typeface="Aptos"/>
              </a:defRPr>
            </a:pPr>
            <a:r>
              <a:t>COURIER DELIVERY</a:t>
            </a:r>
          </a:p>
          <a:p>
            <a:pPr>
              <a:spcAft>
                <a:spcPts val="700"/>
              </a:spcAft>
              <a:defRPr sz="3400" b="1">
                <a:solidFill>
                  <a:srgbClr val="F5F8FC"/>
                </a:solidFill>
                <a:latin typeface="Aptos"/>
              </a:defRPr>
            </a:pPr>
            <a:r>
              <a:t>ROUTE &amp;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337560"/>
            <a:ext cx="6217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AFBED2"/>
                </a:solidFill>
                <a:latin typeface="Aptos"/>
              </a:defRPr>
            </a:pPr>
            <a:r>
              <a:t>A simple console-based system to manage courier details, delivery status and estimated charges.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4663440"/>
            <a:ext cx="3017520" cy="530352"/>
          </a:xfrm>
          <a:prstGeom prst="roundRect">
            <a:avLst/>
          </a:prstGeom>
          <a:solidFill>
            <a:srgbClr val="3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4773168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D1423"/>
                </a:solidFill>
                <a:latin typeface="Aptos"/>
              </a:defRPr>
            </a:pPr>
            <a:r>
              <a:t>BUILT WITH CORE JAVA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5852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3CDCBE"/>
                </a:solidFill>
                <a:latin typeface="Aptos"/>
              </a:defRPr>
            </a:pPr>
            <a:r>
              <a:t>TRACK • UPDATE • DELIVER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CDCBE"/>
                </a:solidFill>
                <a:latin typeface="Aptos"/>
              </a:defRPr>
            </a:pPr>
            <a:r>
              <a:t>JAVA MINI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5F8FC"/>
                </a:solidFill>
                <a:latin typeface="Aptos"/>
              </a:defRPr>
            </a:pPr>
            <a:r>
              <a:t>01  |  Abstract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60120" cy="50292"/>
          </a:xfrm>
          <a:prstGeom prst="rect">
            <a:avLst/>
          </a:prstGeom>
          <a:solidFill>
            <a:srgbClr val="3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AFBED2"/>
                </a:solidFill>
                <a:latin typeface="Aptos"/>
              </a:defRPr>
            </a:pPr>
            <a:r>
              <a:t>COURIER DELIVERY ROUTE &amp; TRACKING  •  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3CDCB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6583680" cy="4251960"/>
          </a:xfrm>
          <a:prstGeom prst="roundRect">
            <a:avLst/>
          </a:prstGeom>
          <a:solidFill>
            <a:srgbClr val="1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3CDCBE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14600"/>
            <a:ext cx="58521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Courier Delivery Route and Tracking is a Java console application that stores basic parcel information. It accepts a tracking ID, sender and receiver names, source, destination and distance. The program calculates a delivery charge and displays the current delivery status.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1691640"/>
            <a:ext cx="3931920" cy="4251960"/>
          </a:xfrm>
          <a:prstGeom prst="roundRect">
            <a:avLst/>
          </a:prstGeom>
          <a:solidFill>
            <a:srgbClr val="1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0956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B15C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2606040"/>
            <a:ext cx="3154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F5F8FC"/>
                </a:solidFill>
                <a:latin typeface="Aptos"/>
              </a:defRPr>
            </a:pPr>
            <a:r>
              <a:t>Enter parcel details</a:t>
            </a:r>
          </a:p>
          <a:p>
            <a:pPr>
              <a:spcAft>
                <a:spcPts val="700"/>
              </a:spcAft>
              <a:defRPr sz="1900" b="1">
                <a:solidFill>
                  <a:srgbClr val="F5F8FC"/>
                </a:solidFill>
                <a:latin typeface="Aptos"/>
              </a:defRPr>
            </a:pPr>
            <a:r>
              <a:t>↓</a:t>
            </a:r>
          </a:p>
          <a:p>
            <a:pPr>
              <a:spcAft>
                <a:spcPts val="700"/>
              </a:spcAft>
              <a:defRPr sz="1900" b="1">
                <a:solidFill>
                  <a:srgbClr val="F5F8FC"/>
                </a:solidFill>
                <a:latin typeface="Aptos"/>
              </a:defRPr>
            </a:pPr>
            <a:r>
              <a:t>Calculate charge</a:t>
            </a:r>
          </a:p>
          <a:p>
            <a:pPr>
              <a:spcAft>
                <a:spcPts val="700"/>
              </a:spcAft>
              <a:defRPr sz="1900" b="1">
                <a:solidFill>
                  <a:srgbClr val="F5F8FC"/>
                </a:solidFill>
                <a:latin typeface="Aptos"/>
              </a:defRPr>
            </a:pPr>
            <a:r>
              <a:t>↓</a:t>
            </a:r>
          </a:p>
          <a:p>
            <a:pPr>
              <a:spcAft>
                <a:spcPts val="700"/>
              </a:spcAft>
              <a:defRPr sz="1900" b="1">
                <a:solidFill>
                  <a:srgbClr val="F5F8FC"/>
                </a:solidFill>
                <a:latin typeface="Aptos"/>
              </a:defRPr>
            </a:pPr>
            <a:r>
              <a:t>Update status</a:t>
            </a:r>
          </a:p>
          <a:p>
            <a:pPr>
              <a:spcAft>
                <a:spcPts val="700"/>
              </a:spcAft>
              <a:defRPr sz="1900" b="1">
                <a:solidFill>
                  <a:srgbClr val="F5F8FC"/>
                </a:solidFill>
                <a:latin typeface="Aptos"/>
              </a:defRPr>
            </a:pPr>
            <a:r>
              <a:t>↓</a:t>
            </a:r>
          </a:p>
          <a:p>
            <a:pPr>
              <a:spcAft>
                <a:spcPts val="700"/>
              </a:spcAft>
              <a:defRPr sz="1900" b="1">
                <a:solidFill>
                  <a:srgbClr val="F5F8FC"/>
                </a:solidFill>
                <a:latin typeface="Aptos"/>
              </a:defRPr>
            </a:pPr>
            <a:r>
              <a:t>Display tracking details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CDCBE"/>
                </a:solidFill>
                <a:latin typeface="Aptos"/>
              </a:defRPr>
            </a:pPr>
            <a:r>
              <a:t>JAVA MINI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5F8FC"/>
                </a:solidFill>
                <a:latin typeface="Aptos"/>
              </a:defRPr>
            </a:pPr>
            <a:r>
              <a:t>02  |  Problem Statement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60120" cy="50292"/>
          </a:xfrm>
          <a:prstGeom prst="rect">
            <a:avLst/>
          </a:prstGeom>
          <a:solidFill>
            <a:srgbClr val="3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AFBED2"/>
                </a:solidFill>
                <a:latin typeface="Aptos"/>
              </a:defRPr>
            </a:pPr>
            <a:r>
              <a:t>COURIER DELIVERY ROUTE &amp; TRACKING  •  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3CDCB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5349240" cy="4343400"/>
          </a:xfrm>
          <a:prstGeom prst="roundRect">
            <a:avLst/>
          </a:prstGeom>
          <a:solidFill>
            <a:srgbClr val="1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B15C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1460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F5F8FC"/>
                </a:solidFill>
                <a:latin typeface="Aptos"/>
              </a:defRPr>
            </a:pPr>
            <a:r>
              <a:t>Tracking courier details manually can be inconvenient. Delivery information and charges may be difficult to organize consistently.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91640"/>
            <a:ext cx="5212080" cy="4343400"/>
          </a:xfrm>
          <a:prstGeom prst="roundRect">
            <a:avLst/>
          </a:prstGeom>
          <a:solidFill>
            <a:srgbClr val="1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9659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3CDCBE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514600"/>
            <a:ext cx="4480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Store sender and receiver details</a:t>
            </a:r>
          </a:p>
          <a:p>
            <a:pPr>
              <a:spcAft>
                <a:spcPts val="8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Record source, destination and distance</a:t>
            </a:r>
          </a:p>
          <a:p>
            <a:pPr>
              <a:spcAft>
                <a:spcPts val="8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Calculate delivery charge automatically</a:t>
            </a:r>
          </a:p>
          <a:p>
            <a:pPr>
              <a:spcAft>
                <a:spcPts val="8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Update and display delivery status</a:t>
            </a:r>
          </a:p>
          <a:p>
            <a:pPr>
              <a:spcAft>
                <a:spcPts val="8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Show all details in one place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CDCBE"/>
                </a:solidFill>
                <a:latin typeface="Aptos"/>
              </a:defRPr>
            </a:pPr>
            <a:r>
              <a:t>JAVA MINI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5F8FC"/>
                </a:solidFill>
                <a:latin typeface="Aptos"/>
              </a:defRPr>
            </a:pPr>
            <a:r>
              <a:t>03  |  Main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60120" cy="50292"/>
          </a:xfrm>
          <a:prstGeom prst="rect">
            <a:avLst/>
          </a:prstGeom>
          <a:solidFill>
            <a:srgbClr val="3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AFBED2"/>
                </a:solidFill>
                <a:latin typeface="Aptos"/>
              </a:defRPr>
            </a:pPr>
            <a:r>
              <a:t>COURIER DELIVERY ROUTE &amp; TRACKING  •  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3CDCB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3429000" cy="1600200"/>
          </a:xfrm>
          <a:prstGeom prst="roundRect">
            <a:avLst/>
          </a:prstGeom>
          <a:solidFill>
            <a:srgbClr val="1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90195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3CDCB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2677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5F8FC"/>
                </a:solidFill>
                <a:latin typeface="Aptos"/>
              </a:defRPr>
            </a:pPr>
            <a:r>
              <a:t>Tracking 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670048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AFBED2"/>
                </a:solidFill>
                <a:latin typeface="Aptos"/>
              </a:defRPr>
            </a:pPr>
            <a:r>
              <a:t>Identifies the courier record.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737360"/>
            <a:ext cx="3429000" cy="1600200"/>
          </a:xfrm>
          <a:prstGeom prst="roundRect">
            <a:avLst/>
          </a:prstGeom>
          <a:solidFill>
            <a:srgbClr val="1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8" y="190195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3CDCB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22677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5F8FC"/>
                </a:solidFill>
                <a:latin typeface="Aptos"/>
              </a:defRPr>
            </a:pPr>
            <a:r>
              <a:t>Parcel Details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670048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AFBED2"/>
                </a:solidFill>
                <a:latin typeface="Aptos"/>
              </a:defRPr>
            </a:pPr>
            <a:r>
              <a:t>Stores sender, receiver and locations.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737360"/>
            <a:ext cx="3429000" cy="1600200"/>
          </a:xfrm>
          <a:prstGeom prst="roundRect">
            <a:avLst/>
          </a:prstGeom>
          <a:solidFill>
            <a:srgbClr val="1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30768" y="190195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3CDCB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22677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5F8FC"/>
                </a:solidFill>
                <a:latin typeface="Aptos"/>
              </a:defRPr>
            </a:pPr>
            <a:r>
              <a:t>Charge Calculator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2670048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AFBED2"/>
                </a:solidFill>
                <a:latin typeface="Aptos"/>
              </a:defRPr>
            </a:pPr>
            <a:r>
              <a:t>Distance × ₹10 per kilometre.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14600" y="3703320"/>
            <a:ext cx="3429000" cy="1600200"/>
          </a:xfrm>
          <a:prstGeom prst="roundRect">
            <a:avLst/>
          </a:prstGeom>
          <a:solidFill>
            <a:srgbClr val="1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15768" y="3867911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3CDCB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15768" y="423367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5F8FC"/>
                </a:solidFill>
                <a:latin typeface="Aptos"/>
              </a:defRPr>
            </a:pPr>
            <a:r>
              <a:t>Status Update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15768" y="4636008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AFBED2"/>
                </a:solidFill>
                <a:latin typeface="Aptos"/>
              </a:defRPr>
            </a:pPr>
            <a:r>
              <a:t>Accepts a status such as In Transit or Delivered.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703320"/>
            <a:ext cx="3429000" cy="1600200"/>
          </a:xfrm>
          <a:prstGeom prst="roundRect">
            <a:avLst/>
          </a:prstGeom>
          <a:solidFill>
            <a:srgbClr val="1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10528" y="3867911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3CDCB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23367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5F8FC"/>
                </a:solidFill>
                <a:latin typeface="Aptos"/>
              </a:defRPr>
            </a:pPr>
            <a:r>
              <a:t>Tracking Summary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636008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AFBED2"/>
                </a:solidFill>
                <a:latin typeface="Aptos"/>
              </a:defRPr>
            </a:pPr>
            <a:r>
              <a:t>Displays all entered details and charge.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CDCBE"/>
                </a:solidFill>
                <a:latin typeface="Aptos"/>
              </a:defRPr>
            </a:pPr>
            <a:r>
              <a:t>JAVA MINI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5F8FC"/>
                </a:solidFill>
                <a:latin typeface="Aptos"/>
              </a:defRPr>
            </a:pPr>
            <a:r>
              <a:t>04  |  Implementation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60120" cy="50292"/>
          </a:xfrm>
          <a:prstGeom prst="rect">
            <a:avLst/>
          </a:prstGeom>
          <a:solidFill>
            <a:srgbClr val="3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AFBED2"/>
                </a:solidFill>
                <a:latin typeface="Aptos"/>
              </a:defRPr>
            </a:pPr>
            <a:r>
              <a:t>COURIER DELIVERY ROUTE &amp; TRACKING  •  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3CDCB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120640" cy="4251960"/>
          </a:xfrm>
          <a:prstGeom prst="roundRect">
            <a:avLst/>
          </a:prstGeom>
          <a:solidFill>
            <a:srgbClr val="1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3CDCBE"/>
                </a:solidFill>
                <a:latin typeface="Aptos"/>
              </a:defRPr>
            </a:pPr>
            <a:r>
              <a:t>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60320"/>
            <a:ext cx="4389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 Language: Java</a:t>
            </a:r>
          </a:p>
          <a:p>
            <a:pPr>
              <a:spcAft>
                <a:spcPts val="8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 Application: Console-based</a:t>
            </a:r>
          </a:p>
          <a:p>
            <a:pPr>
              <a:spcAft>
                <a:spcPts val="8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 Input: Scanner</a:t>
            </a:r>
          </a:p>
          <a:p>
            <a:pPr>
              <a:spcAft>
                <a:spcPts val="8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 Class: CourierDelivery</a:t>
            </a:r>
          </a:p>
          <a:p>
            <a:pPr>
              <a:spcAft>
                <a:spcPts val="8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 Entry point: Main class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737360"/>
            <a:ext cx="5349240" cy="4251960"/>
          </a:xfrm>
          <a:prstGeom prst="roundRect">
            <a:avLst/>
          </a:prstGeom>
          <a:solidFill>
            <a:srgbClr val="1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B15C"/>
                </a:solidFill>
                <a:latin typeface="Aptos"/>
              </a:defRPr>
            </a:pPr>
            <a:r>
              <a:t>KEY DATA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560320"/>
            <a:ext cx="44805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trackingId — parcel identifier</a:t>
            </a:r>
          </a:p>
          <a:p>
            <a:pPr>
              <a:spcAft>
                <a:spcPts val="8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senderName / receiverName</a:t>
            </a:r>
          </a:p>
          <a:p>
            <a:pPr>
              <a:spcAft>
                <a:spcPts val="8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source / destination</a:t>
            </a:r>
          </a:p>
          <a:p>
            <a:pPr>
              <a:spcAft>
                <a:spcPts val="8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distance — in kilometres</a:t>
            </a:r>
          </a:p>
          <a:p>
            <a:pPr>
              <a:spcAft>
                <a:spcPts val="8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deliveryStatus — current state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CDCBE"/>
                </a:solidFill>
                <a:latin typeface="Aptos"/>
              </a:defRPr>
            </a:pPr>
            <a:r>
              <a:t>JAVA MINI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5F8FC"/>
                </a:solidFill>
                <a:latin typeface="Aptos"/>
              </a:defRPr>
            </a:pPr>
            <a:r>
              <a:t>05  |  Java Concepts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60120" cy="50292"/>
          </a:xfrm>
          <a:prstGeom prst="rect">
            <a:avLst/>
          </a:prstGeom>
          <a:solidFill>
            <a:srgbClr val="3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AFBED2"/>
                </a:solidFill>
                <a:latin typeface="Aptos"/>
              </a:defRPr>
            </a:pPr>
            <a:r>
              <a:t>COURIER DELIVERY ROUTE &amp; TRACKING  •  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3CDCB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2423160" cy="530352"/>
          </a:xfrm>
          <a:prstGeom prst="roundRect">
            <a:avLst/>
          </a:prstGeom>
          <a:solidFill>
            <a:srgbClr val="1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80136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3CDCBE"/>
                </a:solidFill>
                <a:latin typeface="Aptos"/>
              </a:defRPr>
            </a:pPr>
            <a:r>
              <a:t>Class &amp; Object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691640"/>
            <a:ext cx="8138160" cy="530352"/>
          </a:xfrm>
          <a:prstGeom prst="roundRect">
            <a:avLst/>
          </a:prstGeom>
          <a:solidFill>
            <a:srgbClr val="1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66160" y="1783080"/>
            <a:ext cx="7635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5F8FC"/>
                </a:solidFill>
                <a:latin typeface="Aptos"/>
              </a:defRPr>
            </a:pPr>
            <a:r>
              <a:t>CourierDelivery class creates a courier object.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377440"/>
            <a:ext cx="2423160" cy="530352"/>
          </a:xfrm>
          <a:prstGeom prst="roundRect">
            <a:avLst/>
          </a:prstGeom>
          <a:solidFill>
            <a:srgbClr val="1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48716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3CDCBE"/>
                </a:solidFill>
                <a:latin typeface="Aptos"/>
              </a:defRPr>
            </a:pPr>
            <a:r>
              <a:t>Constructor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2377440"/>
            <a:ext cx="8138160" cy="530352"/>
          </a:xfrm>
          <a:prstGeom prst="roundRect">
            <a:avLst/>
          </a:prstGeom>
          <a:solidFill>
            <a:srgbClr val="1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66160" y="2468880"/>
            <a:ext cx="7635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5F8FC"/>
                </a:solidFill>
                <a:latin typeface="Aptos"/>
              </a:defRPr>
            </a:pPr>
            <a:r>
              <a:t>Initializes the courier details.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63240"/>
            <a:ext cx="2423160" cy="530352"/>
          </a:xfrm>
          <a:prstGeom prst="roundRect">
            <a:avLst/>
          </a:prstGeom>
          <a:solidFill>
            <a:srgbClr val="1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17296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3CDCBE"/>
                </a:solidFill>
                <a:latin typeface="Aptos"/>
              </a:defRPr>
            </a:pPr>
            <a:r>
              <a:t>Encapsulation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3063240"/>
            <a:ext cx="8138160" cy="530352"/>
          </a:xfrm>
          <a:prstGeom prst="roundRect">
            <a:avLst/>
          </a:prstGeom>
          <a:solidFill>
            <a:srgbClr val="1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66160" y="3154680"/>
            <a:ext cx="7635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5F8FC"/>
                </a:solidFill>
                <a:latin typeface="Aptos"/>
              </a:defRPr>
            </a:pPr>
            <a:r>
              <a:t>Fields are private and accessed through methods.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749039"/>
            <a:ext cx="2423160" cy="530352"/>
          </a:xfrm>
          <a:prstGeom prst="roundRect">
            <a:avLst/>
          </a:prstGeom>
          <a:solidFill>
            <a:srgbClr val="1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385876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3CDCBE"/>
                </a:solidFill>
                <a:latin typeface="Aptos"/>
              </a:defRPr>
            </a:pPr>
            <a:r>
              <a:t>Methods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37560" y="3749039"/>
            <a:ext cx="8138160" cy="530352"/>
          </a:xfrm>
          <a:prstGeom prst="roundRect">
            <a:avLst/>
          </a:prstGeom>
          <a:solidFill>
            <a:srgbClr val="1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66160" y="3840479"/>
            <a:ext cx="7635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5F8FC"/>
                </a:solidFill>
                <a:latin typeface="Aptos"/>
              </a:defRPr>
            </a:pPr>
            <a:r>
              <a:t>calculateDeliveryCharge(), updateStatus(), displayTrackingDetails().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434840"/>
            <a:ext cx="2423160" cy="530352"/>
          </a:xfrm>
          <a:prstGeom prst="roundRect">
            <a:avLst/>
          </a:prstGeom>
          <a:solidFill>
            <a:srgbClr val="1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454456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3CDCBE"/>
                </a:solidFill>
                <a:latin typeface="Aptos"/>
              </a:defRPr>
            </a:pPr>
            <a:r>
              <a:t>Scanner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37560" y="4434840"/>
            <a:ext cx="8138160" cy="530352"/>
          </a:xfrm>
          <a:prstGeom prst="roundRect">
            <a:avLst/>
          </a:prstGeom>
          <a:solidFill>
            <a:srgbClr val="1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66160" y="4526279"/>
            <a:ext cx="7635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5F8FC"/>
                </a:solidFill>
                <a:latin typeface="Aptos"/>
              </a:defRPr>
            </a:pPr>
            <a:r>
              <a:t>Reads the user's input from the console.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120640"/>
            <a:ext cx="2423160" cy="530352"/>
          </a:xfrm>
          <a:prstGeom prst="roundRect">
            <a:avLst/>
          </a:prstGeom>
          <a:solidFill>
            <a:srgbClr val="1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523036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3CDCBE"/>
                </a:solidFill>
                <a:latin typeface="Aptos"/>
              </a:defRPr>
            </a:pPr>
            <a:r>
              <a:t>Formatted output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37560" y="5120640"/>
            <a:ext cx="8138160" cy="530352"/>
          </a:xfrm>
          <a:prstGeom prst="roundRect">
            <a:avLst/>
          </a:prstGeom>
          <a:solidFill>
            <a:srgbClr val="1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566160" y="5212079"/>
            <a:ext cx="7635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5F8FC"/>
                </a:solidFill>
                <a:latin typeface="Aptos"/>
              </a:defRPr>
            </a:pPr>
            <a:r>
              <a:t>printf() displays the charge to two decimal places.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CDCBE"/>
                </a:solidFill>
                <a:latin typeface="Aptos"/>
              </a:defRPr>
            </a:pPr>
            <a:r>
              <a:t>JAVA MINI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5F8FC"/>
                </a:solidFill>
                <a:latin typeface="Aptos"/>
              </a:defRPr>
            </a:pPr>
            <a:r>
              <a:t>06  |  Algorithm / Program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60120" cy="50292"/>
          </a:xfrm>
          <a:prstGeom prst="rect">
            <a:avLst/>
          </a:prstGeom>
          <a:solidFill>
            <a:srgbClr val="3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AFBED2"/>
                </a:solidFill>
                <a:latin typeface="Aptos"/>
              </a:defRPr>
            </a:pPr>
            <a:r>
              <a:t>COURIER DELIVERY ROUTE &amp; TRACKING  •  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3CDCBE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645920"/>
            <a:ext cx="6675120" cy="438912"/>
          </a:xfrm>
          <a:prstGeom prst="roundRect">
            <a:avLst/>
          </a:prstGeom>
          <a:solidFill>
            <a:srgbClr val="1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44368" y="171907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3CDCB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70992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5F8FC"/>
                </a:solidFill>
                <a:latin typeface="Aptos"/>
              </a:defRPr>
            </a:pPr>
            <a:r>
              <a:t>Start program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20574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FFB15C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249424"/>
            <a:ext cx="6675120" cy="438912"/>
          </a:xfrm>
          <a:prstGeom prst="roundRect">
            <a:avLst/>
          </a:prstGeom>
          <a:solidFill>
            <a:srgbClr val="1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44368" y="232257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3CDCB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31343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5F8FC"/>
                </a:solidFill>
                <a:latin typeface="Aptos"/>
              </a:defRPr>
            </a:pPr>
            <a:r>
              <a:t>Read tracking and parcel details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2660904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FFB15C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2852928"/>
            <a:ext cx="6675120" cy="438912"/>
          </a:xfrm>
          <a:prstGeom prst="roundRect">
            <a:avLst/>
          </a:prstGeom>
          <a:solidFill>
            <a:srgbClr val="1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44368" y="29260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3CDCB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91693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5F8FC"/>
                </a:solidFill>
                <a:latin typeface="Aptos"/>
              </a:defRPr>
            </a:pPr>
            <a:r>
              <a:t>Read distance in kilometres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326440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FFB15C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3456432"/>
            <a:ext cx="6675120" cy="438912"/>
          </a:xfrm>
          <a:prstGeom prst="roundRect">
            <a:avLst/>
          </a:prstGeom>
          <a:solidFill>
            <a:srgbClr val="1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44368" y="352958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3CDCB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52044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5F8FC"/>
                </a:solidFill>
                <a:latin typeface="Aptos"/>
              </a:defRPr>
            </a:pPr>
            <a:r>
              <a:t>Create CourierDelivery object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386791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FFB15C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0" y="4059936"/>
            <a:ext cx="6675120" cy="438912"/>
          </a:xfrm>
          <a:prstGeom prst="roundRect">
            <a:avLst/>
          </a:prstGeom>
          <a:solidFill>
            <a:srgbClr val="1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944368" y="41330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3CDCBE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4123944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5F8FC"/>
                </a:solidFill>
                <a:latin typeface="Aptos"/>
              </a:defRPr>
            </a:pPr>
            <a:r>
              <a:t>Enter and update delivery status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0" y="4471416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FFB15C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0" y="4663440"/>
            <a:ext cx="6675120" cy="438912"/>
          </a:xfrm>
          <a:prstGeom prst="roundRect">
            <a:avLst/>
          </a:prstGeom>
          <a:solidFill>
            <a:srgbClr val="1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944368" y="47365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3CDCBE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72744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5F8FC"/>
                </a:solidFill>
                <a:latin typeface="Aptos"/>
              </a:defRPr>
            </a:pPr>
            <a:r>
              <a:t>Calculate charge = distance × 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0" y="507492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FFB15C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0" y="5266944"/>
            <a:ext cx="6675120" cy="438912"/>
          </a:xfrm>
          <a:prstGeom prst="roundRect">
            <a:avLst/>
          </a:prstGeom>
          <a:solidFill>
            <a:srgbClr val="1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944368" y="534009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3CDCBE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533095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5F8FC"/>
                </a:solidFill>
                <a:latin typeface="Aptos"/>
              </a:defRPr>
            </a:pPr>
            <a:r>
              <a:t>Display tracking details and 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CDCBE"/>
                </a:solidFill>
                <a:latin typeface="Aptos"/>
              </a:defRPr>
            </a:pPr>
            <a:r>
              <a:t>JAVA MINI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5F8FC"/>
                </a:solidFill>
                <a:latin typeface="Aptos"/>
              </a:defRPr>
            </a:pPr>
            <a:r>
              <a:t>07  |  Delivery Charge Calculation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60120" cy="50292"/>
          </a:xfrm>
          <a:prstGeom prst="rect">
            <a:avLst/>
          </a:prstGeom>
          <a:solidFill>
            <a:srgbClr val="3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AFBED2"/>
                </a:solidFill>
                <a:latin typeface="Aptos"/>
              </a:defRPr>
            </a:pPr>
            <a:r>
              <a:t>COURIER DELIVERY ROUTE &amp; TRACKING  •  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3CDCBE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4937760" cy="4160520"/>
          </a:xfrm>
          <a:prstGeom prst="roundRect">
            <a:avLst/>
          </a:prstGeom>
          <a:solidFill>
            <a:srgbClr val="1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3CDCBE"/>
                </a:solidFill>
                <a:latin typeface="Aptos"/>
              </a:defRPr>
            </a:pPr>
            <a:r>
              <a:t>FORMULA USED IN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F5F8FC"/>
                </a:solidFill>
                <a:latin typeface="Aptos"/>
              </a:defRPr>
            </a:pPr>
            <a:r>
              <a:t>Charge = Distance × ₹10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703320"/>
            <a:ext cx="4023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AFBED2"/>
                </a:solidFill>
                <a:latin typeface="Aptos"/>
              </a:defRPr>
            </a:pPr>
            <a:r>
              <a:t>Example:</a:t>
            </a:r>
          </a:p>
          <a:p>
            <a:pPr>
              <a:spcAft>
                <a:spcPts val="700"/>
              </a:spcAft>
              <a:defRPr sz="1800" b="0">
                <a:solidFill>
                  <a:srgbClr val="AFBED2"/>
                </a:solidFill>
                <a:latin typeface="Aptos"/>
              </a:defRPr>
            </a:pPr>
            <a:r>
              <a:t>Distance = 25 km</a:t>
            </a:r>
          </a:p>
          <a:p>
            <a:pPr>
              <a:spcAft>
                <a:spcPts val="700"/>
              </a:spcAft>
              <a:defRPr sz="1800" b="0">
                <a:solidFill>
                  <a:srgbClr val="AFBED2"/>
                </a:solidFill>
                <a:latin typeface="Aptos"/>
              </a:defRPr>
            </a:pPr>
            <a:r>
              <a:t>Charge = 25 × 10 = ₹250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737360"/>
            <a:ext cx="5486400" cy="4160520"/>
          </a:xfrm>
          <a:prstGeom prst="roundRect">
            <a:avLst/>
          </a:prstGeom>
          <a:solidFill>
            <a:srgbClr val="1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2057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B15C"/>
                </a:solidFill>
                <a:latin typeface="Aptos"/>
              </a:defRPr>
            </a:pPr>
            <a:r>
              <a:t>SAMPLE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51760"/>
            <a:ext cx="4480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Tracking ID: CD101</a:t>
            </a:r>
          </a:p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Sender: Akash</a:t>
            </a:r>
          </a:p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Receiver: Priya</a:t>
            </a:r>
          </a:p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Source: Hyderabad</a:t>
            </a:r>
          </a:p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Destination: Vijayawada</a:t>
            </a:r>
          </a:p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Distance: 25 km</a:t>
            </a:r>
          </a:p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Status: In Transit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CDCBE"/>
                </a:solidFill>
                <a:latin typeface="Aptos"/>
              </a:defRPr>
            </a:pPr>
            <a:r>
              <a:t>JAVA MINI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5F8FC"/>
                </a:solidFill>
                <a:latin typeface="Aptos"/>
              </a:defRPr>
            </a:pPr>
            <a:r>
              <a:t>08  |  Sample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60120" cy="50292"/>
          </a:xfrm>
          <a:prstGeom prst="rect">
            <a:avLst/>
          </a:prstGeom>
          <a:solidFill>
            <a:srgbClr val="3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AFBED2"/>
                </a:solidFill>
                <a:latin typeface="Aptos"/>
              </a:defRPr>
            </a:pPr>
            <a:r>
              <a:t>COURIER DELIVERY ROUTE &amp; TRACKING  •  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3CDCBE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10652760" cy="4343400"/>
          </a:xfrm>
          <a:prstGeom prst="roundRect">
            <a:avLst/>
          </a:prstGeom>
          <a:solidFill>
            <a:srgbClr val="070C16"/>
          </a:solidFill>
          <a:ln>
            <a:solidFill>
              <a:srgbClr val="2D4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3CDCBE"/>
                </a:solidFill>
                <a:latin typeface="Consolas"/>
              </a:defRPr>
            </a:pPr>
            <a:r>
              <a:t>----- COURIER TRACKING DETAILS -----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68880"/>
            <a:ext cx="9784080" cy="2936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Consolas"/>
              </a:defRPr>
            </a:pPr>
            <a:r>
              <a:rPr dirty="0"/>
              <a:t>Tracking ID: CD101</a:t>
            </a:r>
          </a:p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Consolas"/>
              </a:defRPr>
            </a:pPr>
            <a:r>
              <a:rPr dirty="0"/>
              <a:t>Sender </a:t>
            </a:r>
            <a:r>
              <a:rPr dirty="0" err="1"/>
              <a:t>Name:</a:t>
            </a:r>
            <a:r>
              <a:rPr lang="en-US" dirty="0" err="1"/>
              <a:t>Akshaya</a:t>
            </a:r>
            <a:r>
              <a:rPr lang="en-US" dirty="0"/>
              <a:t> </a:t>
            </a:r>
            <a:br>
              <a:rPr lang="en-US" dirty="0"/>
            </a:br>
            <a:r>
              <a:rPr dirty="0"/>
              <a:t>Receiver Name: </a:t>
            </a:r>
            <a:r>
              <a:rPr lang="en-US" dirty="0" err="1"/>
              <a:t>santhoxh</a:t>
            </a:r>
            <a:endParaRPr dirty="0"/>
          </a:p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Consolas"/>
              </a:defRPr>
            </a:pPr>
            <a:r>
              <a:rPr dirty="0"/>
              <a:t>Source: Hyderabad</a:t>
            </a:r>
          </a:p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Consolas"/>
              </a:defRPr>
            </a:pPr>
            <a:r>
              <a:rPr dirty="0"/>
              <a:t>Destination: Vijayawada</a:t>
            </a:r>
          </a:p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Consolas"/>
              </a:defRPr>
            </a:pPr>
            <a:r>
              <a:rPr dirty="0"/>
              <a:t>Distance: 25.0 km</a:t>
            </a:r>
          </a:p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Consolas"/>
              </a:defRPr>
            </a:pPr>
            <a:r>
              <a:rPr dirty="0"/>
              <a:t>Delivery Status: In Transit</a:t>
            </a:r>
          </a:p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Consolas"/>
              </a:defRPr>
            </a:pPr>
            <a:r>
              <a:rPr dirty="0"/>
              <a:t>Delivery Charge: </a:t>
            </a:r>
            <a:r>
              <a:t>Rs.</a:t>
            </a:r>
            <a:r>
              <a:rPr lang="en-US"/>
              <a:t>1104</a:t>
            </a:r>
            <a:endParaRPr dirty="0"/>
          </a:p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Consolas"/>
              </a:defRPr>
            </a:pPr>
            <a:r>
              <a:rPr dirty="0"/>
              <a:t>------------------------------------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CDCBE"/>
                </a:solidFill>
                <a:latin typeface="Aptos"/>
              </a:defRPr>
            </a:pPr>
            <a:r>
              <a:t>JAVA MINI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5F8FC"/>
                </a:solidFill>
                <a:latin typeface="Aptos"/>
              </a:defRPr>
            </a:pPr>
            <a:r>
              <a:t>09  |  Advantages &amp;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60120" cy="50292"/>
          </a:xfrm>
          <a:prstGeom prst="rect">
            <a:avLst/>
          </a:prstGeom>
          <a:solidFill>
            <a:srgbClr val="3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AFBED2"/>
                </a:solidFill>
                <a:latin typeface="Aptos"/>
              </a:defRPr>
            </a:pPr>
            <a:r>
              <a:t>COURIER DELIVERY ROUTE &amp; TRACKING  •  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3CDCBE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5212080" cy="4251960"/>
          </a:xfrm>
          <a:prstGeom prst="roundRect">
            <a:avLst/>
          </a:prstGeom>
          <a:solidFill>
            <a:srgbClr val="1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3CDCBE"/>
                </a:solidFill>
                <a:latin typeface="Aptos"/>
              </a:defRPr>
            </a:pPr>
            <a:r>
              <a:t>ADVANTAGES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4389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Simple and beginner-friendly</a:t>
            </a:r>
          </a:p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Calculates charges automatically</a:t>
            </a:r>
          </a:p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Keeps parcel details organized</a:t>
            </a:r>
          </a:p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Allows the delivery status to be updated</a:t>
            </a:r>
          </a:p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Demonstrates core Java concepts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212080" cy="4251960"/>
          </a:xfrm>
          <a:prstGeom prst="roundRect">
            <a:avLst/>
          </a:prstGeom>
          <a:solidFill>
            <a:srgbClr val="1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20116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B15C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560320"/>
            <a:ext cx="4389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Data is not saved after program ends</a:t>
            </a:r>
          </a:p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No database or login system</a:t>
            </a:r>
          </a:p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No live GPS tracking</a:t>
            </a:r>
          </a:p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Route is not automatically optimized</a:t>
            </a:r>
          </a:p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Charge uses a fixed rate per kilometre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CDCBE"/>
                </a:solidFill>
                <a:latin typeface="Aptos"/>
              </a:defRPr>
            </a:pPr>
            <a:r>
              <a:t>JAVA MINI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5F8FC"/>
                </a:solidFill>
                <a:latin typeface="Aptos"/>
              </a:defRPr>
            </a:pPr>
            <a:r>
              <a:t>10  |  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60120" cy="50292"/>
          </a:xfrm>
          <a:prstGeom prst="rect">
            <a:avLst/>
          </a:prstGeom>
          <a:solidFill>
            <a:srgbClr val="3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AFBED2"/>
                </a:solidFill>
                <a:latin typeface="Aptos"/>
              </a:defRPr>
            </a:pPr>
            <a:r>
              <a:t>COURIER DELIVERY ROUTE &amp; TRACKING  •  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3CDCBE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6400800" cy="4251960"/>
          </a:xfrm>
          <a:prstGeom prst="roundRect">
            <a:avLst/>
          </a:prstGeom>
          <a:solidFill>
            <a:srgbClr val="1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148840"/>
            <a:ext cx="5669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 Save courier records in a database</a:t>
            </a:r>
          </a:p>
          <a:p>
            <a:pPr>
              <a:spcAft>
                <a:spcPts val="8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 Add search by tracking ID</a:t>
            </a:r>
          </a:p>
          <a:p>
            <a:pPr>
              <a:spcAft>
                <a:spcPts val="8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 Create a graphical user interface</a:t>
            </a:r>
          </a:p>
          <a:p>
            <a:pPr>
              <a:spcAft>
                <a:spcPts val="8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 Integrate GPS for live location updates</a:t>
            </a:r>
          </a:p>
          <a:p>
            <a:pPr>
              <a:spcAft>
                <a:spcPts val="8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 Add route planning and estimated delivery time</a:t>
            </a:r>
          </a:p>
          <a:p>
            <a:pPr>
              <a:spcAft>
                <a:spcPts val="8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 Generate a printable delivery receipt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737360"/>
            <a:ext cx="3931920" cy="4251960"/>
          </a:xfrm>
          <a:prstGeom prst="roundRect">
            <a:avLst/>
          </a:prstGeom>
          <a:solidFill>
            <a:srgbClr val="1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0" y="2103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3CDCBE"/>
                </a:solidFill>
                <a:latin typeface="Aptos"/>
              </a:defRPr>
            </a:pPr>
            <a:r>
              <a:t>NEXT 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743200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F5F8FC"/>
                </a:solidFill>
                <a:latin typeface="Aptos"/>
              </a:defRPr>
            </a:pPr>
            <a:r>
              <a:t>From a basic console program to a more complete courier management system.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CDCBE"/>
                </a:solidFill>
                <a:latin typeface="Aptos"/>
              </a:defRPr>
            </a:pPr>
            <a:r>
              <a:t>JAVA MINI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5F8FC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65960"/>
            <a:ext cx="6675120" cy="3383280"/>
          </a:xfrm>
          <a:prstGeom prst="roundRect">
            <a:avLst/>
          </a:prstGeom>
          <a:solidFill>
            <a:srgbClr val="1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233172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F5F8FC"/>
                </a:solidFill>
                <a:latin typeface="Aptos"/>
              </a:defRPr>
            </a:pPr>
            <a:r>
              <a:t>The Courier Delivery Route and Tracking project demonstrates how Java can manage basic courier information, calculate delivery charges and update a delivery status. It is a simple foundation that can be expanded with database storage, GPS tracking and route optimization.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965960"/>
            <a:ext cx="3611880" cy="3383280"/>
          </a:xfrm>
          <a:prstGeom prst="roundRect">
            <a:avLst/>
          </a:prstGeom>
          <a:solidFill>
            <a:srgbClr val="1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83879" y="24231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3CDCBE"/>
                </a:solidFill>
                <a:latin typeface="Aptos"/>
              </a:defRPr>
            </a:pPr>
            <a:r>
              <a:t>THANK YOU!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324612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800" b="0">
                <a:solidFill>
                  <a:srgbClr val="AFBED2"/>
                </a:solidFill>
                <a:latin typeface="Aptos"/>
              </a:defRPr>
            </a:pPr>
            <a:r>
              <a:t>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510528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AFBED2"/>
                </a:solidFill>
                <a:latin typeface="Aptos"/>
              </a:defRPr>
            </a:pPr>
            <a:r>
              <a:t>COURIER DELIVERY ROUTE &amp; TRACKING  •  JAVA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3CDCBE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776</Words>
  <Application>Microsoft Office PowerPoint</Application>
  <PresentationFormat>Widescreen</PresentationFormat>
  <Paragraphs>172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SANTHOSH</dc:creator>
  <cp:keywords/>
  <dc:description>generated using python-pptx</dc:description>
  <cp:lastModifiedBy>Sahith Ponduru</cp:lastModifiedBy>
  <cp:revision>5</cp:revision>
  <dcterms:created xsi:type="dcterms:W3CDTF">2013-01-27T09:14:16Z</dcterms:created>
  <dcterms:modified xsi:type="dcterms:W3CDTF">2026-10-15T17:13:35Z</dcterms:modified>
  <cp:category/>
</cp:coreProperties>
</file>